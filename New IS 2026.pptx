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310" r:id="rId4"/>
    <p:sldId id="299" r:id="rId5"/>
    <p:sldId id="311" r:id="rId6"/>
    <p:sldId id="313" r:id="rId7"/>
    <p:sldId id="300" r:id="rId8"/>
    <p:sldId id="312" r:id="rId9"/>
    <p:sldId id="301" r:id="rId10"/>
    <p:sldId id="302" r:id="rId11"/>
    <p:sldId id="303" r:id="rId12"/>
    <p:sldId id="316" r:id="rId13"/>
    <p:sldId id="304" r:id="rId14"/>
    <p:sldId id="305" r:id="rId15"/>
    <p:sldId id="306" r:id="rId16"/>
    <p:sldId id="314" r:id="rId17"/>
    <p:sldId id="315" r:id="rId18"/>
    <p:sldId id="307" r:id="rId19"/>
    <p:sldId id="308" r:id="rId20"/>
    <p:sldId id="309" r:id="rId21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7DD46-BF82-4D62-A0BD-0B801AE5D368}" v="1" dt="2026-01-06T00:03:37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500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849CD3E-3C6C-4489-8F6E-4E79A4C678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DB6CBA3-0022-48A0-A81F-37A15CCF0F7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ow.uscgaux.info/content.php?unit=IT-GROUP&amp;category=is-officer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dropbox.com/scl/fo/jcpy80805do59trygl6j3/AH8uhPuc0wxnOoNnPwO6Hxk?rlkey=sukz52eni0h4rpl99ok47o51o&amp;e=1&amp;dl=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Monday, January 5,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Welcome NEW IS Officers!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4419600"/>
            <a:ext cx="297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HAPPY NEW YEAR!!</a:t>
            </a:r>
          </a:p>
        </p:txBody>
      </p:sp>
      <p:pic>
        <p:nvPicPr>
          <p:cNvPr id="6" name="Picture 14" descr="Official Seal of Information 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77478"/>
            <a:ext cx="2038350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C:\Users\John\Pictures\auxlogo_v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70674"/>
            <a:ext cx="2035983" cy="204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69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AGENDA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latin typeface="+mj-lt"/>
              </a:rPr>
              <a:t>Welcome- Purpose of Meeting</a:t>
            </a:r>
          </a:p>
          <a:p>
            <a:r>
              <a:rPr lang="en-US" sz="3200" dirty="0">
                <a:latin typeface="+mj-lt"/>
              </a:rPr>
              <a:t>Role of the IS Officer</a:t>
            </a:r>
          </a:p>
          <a:p>
            <a:r>
              <a:rPr lang="en-US" sz="3200" dirty="0">
                <a:latin typeface="+mj-lt"/>
              </a:rPr>
              <a:t>IS Officer Resources</a:t>
            </a:r>
          </a:p>
          <a:p>
            <a:pPr lvl="1"/>
            <a:r>
              <a:rPr lang="en-US" sz="3000" dirty="0">
                <a:latin typeface="+mj-lt"/>
              </a:rPr>
              <a:t>Forms Warehouse</a:t>
            </a:r>
          </a:p>
          <a:p>
            <a:pPr lvl="1"/>
            <a:r>
              <a:rPr lang="en-US" sz="3000" dirty="0">
                <a:latin typeface="+mj-lt"/>
              </a:rPr>
              <a:t>How to Guides</a:t>
            </a:r>
          </a:p>
          <a:p>
            <a:pPr lvl="1"/>
            <a:r>
              <a:rPr lang="en-US" sz="3000" dirty="0">
                <a:latin typeface="+mj-lt"/>
              </a:rPr>
              <a:t>IS Officer Job Aids</a:t>
            </a:r>
          </a:p>
          <a:p>
            <a:pPr lvl="1"/>
            <a:r>
              <a:rPr lang="en-US" sz="3000" dirty="0">
                <a:latin typeface="+mj-lt"/>
              </a:rPr>
              <a:t>District Policies</a:t>
            </a:r>
          </a:p>
          <a:p>
            <a:r>
              <a:rPr lang="en-US" sz="3200" dirty="0">
                <a:latin typeface="+mj-lt"/>
              </a:rPr>
              <a:t>Serving the Members &amp; Staff (Reports)</a:t>
            </a:r>
          </a:p>
          <a:p>
            <a:r>
              <a:rPr lang="en-US" sz="3200" dirty="0">
                <a:latin typeface="+mj-lt"/>
              </a:rPr>
              <a:t>Using List views to manage your work</a:t>
            </a:r>
          </a:p>
          <a:p>
            <a:r>
              <a:rPr lang="en-US" sz="3200" dirty="0">
                <a:latin typeface="+mj-lt"/>
              </a:rPr>
              <a:t>Training</a:t>
            </a:r>
          </a:p>
          <a:p>
            <a:pPr marL="0" indent="0">
              <a:buNone/>
            </a:pPr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4440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11CA-DD47-0655-8111-D3908260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 Challenge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263ED-3379-88D2-B05D-D1F76FED0A0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43000" y="1582882"/>
            <a:ext cx="7010399" cy="3664527"/>
          </a:xfrm>
        </p:spPr>
      </p:pic>
    </p:spTree>
    <p:extLst>
      <p:ext uri="{BB962C8B-B14F-4D97-AF65-F5344CB8AC3E}">
        <p14:creationId xmlns:p14="http://schemas.microsoft.com/office/powerpoint/2010/main" val="211174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the IS Officer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+mj-lt"/>
              </a:rPr>
              <a:t>Collect and Report the Activity of Our Members</a:t>
            </a:r>
          </a:p>
          <a:p>
            <a:pPr lvl="1"/>
            <a:r>
              <a:rPr lang="en-US" dirty="0">
                <a:latin typeface="+mj-lt"/>
              </a:rPr>
              <a:t>Encourage Members to Report (forms, email, or in AUXDATA II)</a:t>
            </a:r>
          </a:p>
          <a:p>
            <a:pPr lvl="1"/>
            <a:r>
              <a:rPr lang="en-US" dirty="0">
                <a:latin typeface="+mj-lt"/>
              </a:rPr>
              <a:t>If submitted via form or email, make the entry in AUXDATA II.</a:t>
            </a:r>
          </a:p>
          <a:p>
            <a:pPr lvl="1"/>
            <a:r>
              <a:rPr lang="en-US" dirty="0">
                <a:latin typeface="+mj-lt"/>
              </a:rPr>
              <a:t>Make sure reporting is consistent with the expectations of BSX (Chief Directors Office) see definitions. </a:t>
            </a:r>
          </a:p>
          <a:p>
            <a:r>
              <a:rPr lang="en-US" dirty="0">
                <a:latin typeface="+mj-lt"/>
              </a:rPr>
              <a:t>Provide Information to Leadership to help decision making</a:t>
            </a:r>
          </a:p>
          <a:p>
            <a:r>
              <a:rPr lang="en-US" dirty="0">
                <a:latin typeface="+mj-lt"/>
              </a:rPr>
              <a:t>Provide Information to Members</a:t>
            </a:r>
          </a:p>
          <a:p>
            <a:pPr lvl="1"/>
            <a:r>
              <a:rPr lang="en-US" dirty="0">
                <a:latin typeface="+mj-lt"/>
              </a:rPr>
              <a:t>You will be asked about EVERYTHING!</a:t>
            </a:r>
          </a:p>
          <a:p>
            <a:r>
              <a:rPr lang="en-US" dirty="0">
                <a:latin typeface="+mj-lt"/>
              </a:rPr>
              <a:t>Attend Flotilla and Division Meetings- Stay “in the know”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448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E0C1-85CE-D892-A188-29DE4EEB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IS Officer </a:t>
            </a:r>
            <a:r>
              <a:rPr lang="en-US" sz="2400" b="1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1082-5812-F1EC-BBDC-A37EA9964F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We do NOT establish policy.</a:t>
            </a:r>
          </a:p>
          <a:p>
            <a:pPr lvl="1"/>
            <a:r>
              <a:rPr lang="en-US" dirty="0">
                <a:latin typeface="+mj-lt"/>
              </a:rPr>
              <a:t>We can not dictate when Activity Logs must be submitted </a:t>
            </a:r>
          </a:p>
          <a:p>
            <a:r>
              <a:rPr lang="en-US" dirty="0">
                <a:latin typeface="+mj-lt"/>
              </a:rPr>
              <a:t>We DO look at ALAUX and L2 POLICIES to see what is approved by the Chief Director’s Office. </a:t>
            </a:r>
          </a:p>
          <a:p>
            <a:pPr lvl="1"/>
            <a:r>
              <a:rPr lang="en-US" dirty="0">
                <a:latin typeface="+mj-lt"/>
              </a:rPr>
              <a:t>Only policies approved by the Chief Director are valid. </a:t>
            </a:r>
          </a:p>
          <a:p>
            <a:pPr lvl="1"/>
            <a:r>
              <a:rPr lang="en-US" dirty="0">
                <a:latin typeface="+mj-lt"/>
              </a:rPr>
              <a:t>“Rumors”, “Upcoming changes” or directives from other staff that are not in the approved policy should be referred back to the COLM.</a:t>
            </a:r>
          </a:p>
        </p:txBody>
      </p:sp>
    </p:spTree>
    <p:extLst>
      <p:ext uri="{BB962C8B-B14F-4D97-AF65-F5344CB8AC3E}">
        <p14:creationId xmlns:p14="http://schemas.microsoft.com/office/powerpoint/2010/main" val="245726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9AC7-3A5A-F05E-96D6-B46F03E9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IS Officer Job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166D4-2FB0-0880-AFAF-DAC46D6F1E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+mj-lt"/>
              </a:rPr>
              <a:t>FSO-IS</a:t>
            </a:r>
          </a:p>
          <a:p>
            <a:pPr lvl="1"/>
            <a:r>
              <a:rPr lang="en-US" dirty="0">
                <a:latin typeface="+mj-lt"/>
              </a:rPr>
              <a:t>Member Assistance/ Training</a:t>
            </a:r>
          </a:p>
          <a:p>
            <a:pPr lvl="1"/>
            <a:r>
              <a:rPr lang="en-US" dirty="0">
                <a:latin typeface="+mj-lt"/>
              </a:rPr>
              <a:t>AUXDATA Entry if needed</a:t>
            </a:r>
          </a:p>
          <a:p>
            <a:pPr lvl="1"/>
            <a:r>
              <a:rPr lang="en-US" dirty="0">
                <a:latin typeface="+mj-lt"/>
              </a:rPr>
              <a:t>Quality Review of entered data</a:t>
            </a:r>
          </a:p>
          <a:p>
            <a:pPr lvl="1"/>
            <a:r>
              <a:rPr lang="en-US" dirty="0">
                <a:latin typeface="+mj-lt"/>
              </a:rPr>
              <a:t>Informing Leadership of accomplishments (Reports)</a:t>
            </a:r>
          </a:p>
          <a:p>
            <a:pPr lvl="1"/>
            <a:r>
              <a:rPr lang="en-US" dirty="0">
                <a:latin typeface="+mj-lt"/>
              </a:rPr>
              <a:t>Informing Members of deadlines</a:t>
            </a:r>
          </a:p>
          <a:p>
            <a:r>
              <a:rPr lang="en-US" b="1" dirty="0">
                <a:latin typeface="+mj-lt"/>
              </a:rPr>
              <a:t>SO-IS</a:t>
            </a:r>
          </a:p>
          <a:p>
            <a:pPr lvl="1"/>
            <a:r>
              <a:rPr lang="en-US" dirty="0">
                <a:latin typeface="+mj-lt"/>
              </a:rPr>
              <a:t>FSO-IS Assistance/ Training</a:t>
            </a:r>
          </a:p>
          <a:p>
            <a:pPr lvl="1"/>
            <a:r>
              <a:rPr lang="en-US" dirty="0">
                <a:latin typeface="+mj-lt"/>
              </a:rPr>
              <a:t>AUXDATA Entry if needed</a:t>
            </a:r>
          </a:p>
          <a:p>
            <a:pPr lvl="1"/>
            <a:r>
              <a:rPr lang="en-US" dirty="0">
                <a:latin typeface="+mj-lt"/>
              </a:rPr>
              <a:t>Quality Review of Entered Data</a:t>
            </a:r>
          </a:p>
          <a:p>
            <a:pPr lvl="1"/>
            <a:r>
              <a:rPr lang="en-US" dirty="0">
                <a:latin typeface="+mj-lt"/>
              </a:rPr>
              <a:t>AUXDATA Activity Log Approval (AUX-10 Required for permissions)</a:t>
            </a:r>
          </a:p>
          <a:p>
            <a:pPr lvl="1"/>
            <a:r>
              <a:rPr lang="en-US" dirty="0">
                <a:latin typeface="+mj-lt"/>
              </a:rPr>
              <a:t>Informing Leadership of accomplishments (Reports)</a:t>
            </a:r>
          </a:p>
          <a:p>
            <a:pPr lvl="1"/>
            <a:r>
              <a:rPr lang="en-US" dirty="0">
                <a:latin typeface="+mj-lt"/>
              </a:rPr>
              <a:t>Informing Members of deadlines</a:t>
            </a:r>
          </a:p>
        </p:txBody>
      </p:sp>
    </p:spTree>
    <p:extLst>
      <p:ext uri="{BB962C8B-B14F-4D97-AF65-F5344CB8AC3E}">
        <p14:creationId xmlns:p14="http://schemas.microsoft.com/office/powerpoint/2010/main" val="415834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IS Officer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>
                <a:latin typeface="+mj-lt"/>
              </a:rPr>
              <a:t>People Resources</a:t>
            </a:r>
          </a:p>
          <a:p>
            <a:pPr lvl="1"/>
            <a:r>
              <a:rPr lang="en-US" sz="3200" dirty="0">
                <a:latin typeface="+mj-lt"/>
              </a:rPr>
              <a:t>Your SO-IS, ADSO-IS or DSO-IS</a:t>
            </a:r>
          </a:p>
          <a:p>
            <a:pPr marL="502920" indent="-457200"/>
            <a:r>
              <a:rPr lang="en-US" sz="3400" b="1" dirty="0">
                <a:latin typeface="+mj-lt"/>
              </a:rPr>
              <a:t>Materials/ References</a:t>
            </a:r>
          </a:p>
          <a:p>
            <a:pPr lvl="1"/>
            <a:r>
              <a:rPr lang="en-US" sz="3200" dirty="0">
                <a:latin typeface="+mj-lt"/>
              </a:rPr>
              <a:t>“ U” Directorate web page</a:t>
            </a:r>
          </a:p>
          <a:p>
            <a:pPr lvl="1"/>
            <a:r>
              <a:rPr lang="en-US" sz="3200" dirty="0">
                <a:latin typeface="+mj-lt"/>
              </a:rPr>
              <a:t>Forms Warehouse</a:t>
            </a:r>
          </a:p>
          <a:p>
            <a:pPr lvl="1"/>
            <a:r>
              <a:rPr lang="en-US" sz="3200" dirty="0">
                <a:latin typeface="+mj-lt"/>
              </a:rPr>
              <a:t>How to Guides</a:t>
            </a:r>
          </a:p>
          <a:p>
            <a:pPr lvl="1"/>
            <a:r>
              <a:rPr lang="en-US" sz="3200" dirty="0">
                <a:latin typeface="+mj-lt"/>
              </a:rPr>
              <a:t>IS Officer Job Aids</a:t>
            </a:r>
          </a:p>
          <a:p>
            <a:pPr lvl="1"/>
            <a:r>
              <a:rPr lang="en-US" sz="3200" dirty="0">
                <a:latin typeface="+mj-lt"/>
              </a:rPr>
              <a:t>District (DIRAUX) Policies</a:t>
            </a:r>
          </a:p>
          <a:p>
            <a:pPr marL="320040" lvl="1" indent="0">
              <a:buNone/>
            </a:pPr>
            <a:r>
              <a:rPr lang="en-US" sz="3200" dirty="0">
                <a:latin typeface="+mj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7766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84BB-627D-EC97-EE54-CA729ED77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 Directorate: </a:t>
            </a:r>
            <a:r>
              <a:rPr lang="en-US" sz="2200" dirty="0"/>
              <a:t>https://wow.uscgaux.info/content.php?unit=u-dept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EA6BE-62C1-B5F2-EC18-D31F4E7423E2}"/>
              </a:ext>
            </a:extLst>
          </p:cNvPr>
          <p:cNvSpPr txBox="1"/>
          <p:nvPr/>
        </p:nvSpPr>
        <p:spPr>
          <a:xfrm>
            <a:off x="838200" y="2133600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New CS/IS Staff Page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B62188-3CD5-E452-053E-C5F05107ABF6}"/>
              </a:ext>
            </a:extLst>
          </p:cNvPr>
          <p:cNvCxnSpPr>
            <a:cxnSpLocks/>
          </p:cNvCxnSpPr>
          <p:nvPr/>
        </p:nvCxnSpPr>
        <p:spPr>
          <a:xfrm>
            <a:off x="1828800" y="2514600"/>
            <a:ext cx="1752600" cy="76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779C03-819C-A43A-69C9-243C5460D14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657600" y="1295400"/>
            <a:ext cx="413019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Forms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https://forms.cgaux.org/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PDF Forms Page: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7030 - Mission Codes and Descriptions</a:t>
            </a:r>
          </a:p>
          <a:p>
            <a:pPr marL="0" indent="0" algn="ctr">
              <a:buNone/>
            </a:pPr>
            <a:endParaRPr lang="en-US" sz="4400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ALL Activity Codes (7029, 7030, 7038, 7046)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Official definitions for each code</a:t>
            </a:r>
          </a:p>
          <a:p>
            <a:pPr marL="0" indent="0">
              <a:buNone/>
            </a:pP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93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atin typeface="+mj-lt"/>
              </a:rPr>
              <a:t>http://wow.uscgaux.info/content.php?unit=IT-GROUP&amp;category=auxdata-ii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AUXDATA II Page</a:t>
            </a:r>
          </a:p>
          <a:p>
            <a:pPr lvl="1"/>
            <a:r>
              <a:rPr lang="en-US" dirty="0">
                <a:latin typeface="+mj-lt"/>
              </a:rPr>
              <a:t>Log in using Member Number and Member Zone Password</a:t>
            </a:r>
          </a:p>
          <a:p>
            <a:pPr lvl="1"/>
            <a:r>
              <a:rPr lang="en-US" dirty="0">
                <a:latin typeface="+mj-lt"/>
              </a:rPr>
              <a:t>How To Guides provide more explicit definition of how mission codes are used</a:t>
            </a:r>
          </a:p>
          <a:p>
            <a:pPr lvl="1"/>
            <a:r>
              <a:rPr lang="en-US" dirty="0">
                <a:latin typeface="+mj-lt"/>
              </a:rPr>
              <a:t>22 Guides</a:t>
            </a:r>
          </a:p>
          <a:p>
            <a:pPr lvl="1"/>
            <a:r>
              <a:rPr lang="en-US" dirty="0">
                <a:latin typeface="+mj-lt"/>
              </a:rPr>
              <a:t>How to Guide also “walks through” the process of data entry</a:t>
            </a:r>
          </a:p>
          <a:p>
            <a:pPr lvl="1"/>
            <a:r>
              <a:rPr lang="en-US" dirty="0">
                <a:latin typeface="+mj-lt"/>
              </a:rPr>
              <a:t>4 Quick Guides for some programs- training for members</a:t>
            </a:r>
          </a:p>
        </p:txBody>
      </p:sp>
    </p:spTree>
    <p:extLst>
      <p:ext uri="{BB962C8B-B14F-4D97-AF65-F5344CB8AC3E}">
        <p14:creationId xmlns:p14="http://schemas.microsoft.com/office/powerpoint/2010/main" val="1484442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772400" cy="1143000"/>
          </a:xfrm>
        </p:spPr>
        <p:txBody>
          <a:bodyPr/>
          <a:lstStyle/>
          <a:p>
            <a:r>
              <a:rPr lang="en-US" b="1" dirty="0"/>
              <a:t>IS Officer Job Aids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1111" y="1417638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Officers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0489" y="3042791"/>
            <a:ext cx="2514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IS OFFICER FOLDER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4C927-0A53-2BB8-2EC7-7C407716B591}"/>
              </a:ext>
            </a:extLst>
          </p:cNvPr>
          <p:cNvCxnSpPr>
            <a:cxnSpLocks/>
          </p:cNvCxnSpPr>
          <p:nvPr/>
        </p:nvCxnSpPr>
        <p:spPr>
          <a:xfrm>
            <a:off x="2215244" y="3765169"/>
            <a:ext cx="1137556" cy="578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3A449-DE57-3389-AA25-7046CC690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099" y="1404386"/>
            <a:ext cx="5399314" cy="48768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C3EB09-5D9E-C17E-653C-A97F88BB423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362200" y="3765169"/>
            <a:ext cx="1184899" cy="7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40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140A-6343-B3B8-C40C-234A0A4D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IS Officer Job Aids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1EE3A-4AFF-B35B-FE99-08D2153DF5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Newsletters – Dropbox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1F962-DAF0-08C1-0FDC-49EA0D6A7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980129"/>
            <a:ext cx="6343874" cy="460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83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District Policies- Your District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Each District has a policy on where various documents are entered and who does the entry.</a:t>
            </a:r>
          </a:p>
          <a:p>
            <a:r>
              <a:rPr lang="en-US" dirty="0">
                <a:latin typeface="+mj-lt"/>
              </a:rPr>
              <a:t>Look at your District Webpage for DIRAUX Forms, a Form Flow Guide or a Help Desk Link</a:t>
            </a:r>
          </a:p>
          <a:p>
            <a:r>
              <a:rPr lang="en-US" dirty="0">
                <a:latin typeface="+mj-lt"/>
              </a:rPr>
              <a:t>Know what you should enter or update in AUXDATA II and what you should NOT be updating.</a:t>
            </a:r>
          </a:p>
          <a:p>
            <a:r>
              <a:rPr lang="en-US" dirty="0">
                <a:latin typeface="+mj-lt"/>
              </a:rPr>
              <a:t>Know how to route various forms, certificates or request to the correct place for entry.</a:t>
            </a:r>
          </a:p>
        </p:txBody>
      </p:sp>
    </p:spTree>
    <p:extLst>
      <p:ext uri="{BB962C8B-B14F-4D97-AF65-F5344CB8AC3E}">
        <p14:creationId xmlns:p14="http://schemas.microsoft.com/office/powerpoint/2010/main" val="249196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Serving Your Members and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Member Records</a:t>
            </a:r>
          </a:p>
          <a:p>
            <a:r>
              <a:rPr lang="en-US" dirty="0">
                <a:latin typeface="+mj-lt"/>
              </a:rPr>
              <a:t>Contact Lists</a:t>
            </a:r>
          </a:p>
          <a:p>
            <a:r>
              <a:rPr lang="en-US" dirty="0">
                <a:latin typeface="+mj-lt"/>
              </a:rPr>
              <a:t>Reports</a:t>
            </a:r>
          </a:p>
          <a:p>
            <a:endParaRPr lang="en-US" dirty="0">
              <a:latin typeface="+mj-lt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QUICK STOP REPORTS in AUXDATA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See Index of reports in How to Guide</a:t>
            </a:r>
          </a:p>
          <a:p>
            <a:r>
              <a:rPr lang="en-US" dirty="0">
                <a:latin typeface="+mj-lt"/>
              </a:rPr>
              <a:t>Start Providing Reports at Meetings</a:t>
            </a:r>
          </a:p>
        </p:txBody>
      </p:sp>
    </p:spTree>
    <p:extLst>
      <p:ext uri="{BB962C8B-B14F-4D97-AF65-F5344CB8AC3E}">
        <p14:creationId xmlns:p14="http://schemas.microsoft.com/office/powerpoint/2010/main" val="4574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Good Reports to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atin typeface="+mj-lt"/>
              </a:rPr>
              <a:t>For Leadership:</a:t>
            </a:r>
            <a:r>
              <a:rPr lang="en-US" dirty="0">
                <a:latin typeface="+mj-lt"/>
              </a:rPr>
              <a:t>	</a:t>
            </a:r>
          </a:p>
          <a:p>
            <a:pPr lvl="1"/>
            <a:r>
              <a:rPr lang="en-US" dirty="0">
                <a:latin typeface="+mj-lt"/>
              </a:rPr>
              <a:t>Member Unit Hours</a:t>
            </a:r>
          </a:p>
          <a:p>
            <a:pPr lvl="1"/>
            <a:r>
              <a:rPr lang="en-US" dirty="0">
                <a:latin typeface="+mj-lt"/>
              </a:rPr>
              <a:t>Mission Details (#VSC, PV, Graduates from PE, etc.)</a:t>
            </a:r>
          </a:p>
          <a:p>
            <a:pPr lvl="1"/>
            <a:r>
              <a:rPr lang="en-US" dirty="0">
                <a:latin typeface="+mj-lt"/>
              </a:rPr>
              <a:t>Member Training Status (REYR, Certified)</a:t>
            </a:r>
          </a:p>
          <a:p>
            <a:pPr lvl="1"/>
            <a:r>
              <a:rPr lang="en-US" dirty="0">
                <a:latin typeface="+mj-lt"/>
              </a:rPr>
              <a:t>Contact Lists (Membership, Officers)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For Members</a:t>
            </a:r>
          </a:p>
          <a:p>
            <a:pPr lvl="1"/>
            <a:r>
              <a:rPr lang="en-US" dirty="0">
                <a:latin typeface="+mj-lt"/>
              </a:rPr>
              <a:t>Member Hours</a:t>
            </a:r>
          </a:p>
          <a:p>
            <a:pPr lvl="1"/>
            <a:r>
              <a:rPr lang="en-US" dirty="0">
                <a:latin typeface="+mj-lt"/>
              </a:rPr>
              <a:t>Mission Details (#VSC, PV)</a:t>
            </a:r>
          </a:p>
          <a:p>
            <a:pPr lvl="1"/>
            <a:r>
              <a:rPr lang="en-US" dirty="0">
                <a:latin typeface="+mj-lt"/>
              </a:rPr>
              <a:t>Upcoming Deadlines for Core Training or TCT</a:t>
            </a:r>
          </a:p>
          <a:p>
            <a:pPr lvl="1"/>
            <a:r>
              <a:rPr lang="en-US" dirty="0">
                <a:latin typeface="+mj-lt"/>
              </a:rPr>
              <a:t>Member Training Records			</a:t>
            </a: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824683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7305-4C08-FEBA-445B-D33F5D1E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Location of Key Reports in Quick 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50F33-9E5F-DC47-403E-68BAC56B95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atin typeface="+mj-lt"/>
              </a:rPr>
              <a:t>Contact Lists</a:t>
            </a:r>
          </a:p>
          <a:p>
            <a:pPr lvl="1"/>
            <a:r>
              <a:rPr lang="en-US" dirty="0">
                <a:latin typeface="+mj-lt"/>
              </a:rPr>
              <a:t>Member Contact Sub-folder</a:t>
            </a:r>
          </a:p>
          <a:p>
            <a:r>
              <a:rPr lang="en-US" b="1" dirty="0">
                <a:latin typeface="+mj-lt"/>
              </a:rPr>
              <a:t>Member Unit Hours and Unit Detail Data</a:t>
            </a:r>
          </a:p>
          <a:p>
            <a:pPr lvl="1"/>
            <a:r>
              <a:rPr lang="en-US" dirty="0">
                <a:latin typeface="+mj-lt"/>
              </a:rPr>
              <a:t>Unit Summary Subfolder</a:t>
            </a:r>
          </a:p>
          <a:p>
            <a:r>
              <a:rPr lang="en-US" b="1" dirty="0">
                <a:latin typeface="+mj-lt"/>
              </a:rPr>
              <a:t>Member Competencies and Tasks and Task Deadlines</a:t>
            </a:r>
          </a:p>
          <a:p>
            <a:pPr lvl="1"/>
            <a:r>
              <a:rPr lang="en-US" dirty="0">
                <a:latin typeface="+mj-lt"/>
              </a:rPr>
              <a:t>Competency &amp; Training Subfolder</a:t>
            </a:r>
          </a:p>
          <a:p>
            <a:r>
              <a:rPr lang="en-US" b="1" dirty="0">
                <a:latin typeface="+mj-lt"/>
              </a:rPr>
              <a:t>Member Training Record</a:t>
            </a:r>
          </a:p>
          <a:p>
            <a:pPr lvl="1"/>
            <a:r>
              <a:rPr lang="en-US" dirty="0">
                <a:latin typeface="+mj-lt"/>
              </a:rPr>
              <a:t>Member Information Subfolder</a:t>
            </a:r>
          </a:p>
          <a:p>
            <a:pPr marL="320040" lvl="1" indent="0">
              <a:buNone/>
            </a:pPr>
            <a:endParaRPr lang="en-US" dirty="0">
              <a:latin typeface="+mj-lt"/>
            </a:endParaRPr>
          </a:p>
          <a:p>
            <a:pPr marL="320040" lvl="1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+mj-lt"/>
              </a:rPr>
              <a:t>Simplify your life and make bookmarks in your Browser for reports you will be needing often</a:t>
            </a:r>
            <a:endParaRPr lang="en-US" sz="2000" i="1" dirty="0">
              <a:solidFill>
                <a:srgbClr val="0070C0"/>
              </a:solidFill>
            </a:endParaRPr>
          </a:p>
          <a:p>
            <a:pPr marL="32004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737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41C9-00CC-8C2A-8AA3-96922CE8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Manage your Activity Log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64A8-7355-C824-8AF9-5D19B0B701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Make LIST VIEWS to expedite your review</a:t>
            </a:r>
          </a:p>
          <a:p>
            <a:r>
              <a:rPr lang="en-US" dirty="0">
                <a:latin typeface="+mj-lt"/>
              </a:rPr>
              <a:t>On the Activity Log “Recently Viewed” page, click the down arrow and select one of the “GEN” formats and Clone it. Alter the filters as needed. </a:t>
            </a:r>
            <a:r>
              <a:rPr lang="en-US" i="1" dirty="0">
                <a:latin typeface="+mj-lt"/>
              </a:rPr>
              <a:t>(See How To Guide on List Views)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List Views that you should have:</a:t>
            </a:r>
          </a:p>
          <a:p>
            <a:pPr lvl="1"/>
            <a:r>
              <a:rPr lang="en-US" dirty="0">
                <a:latin typeface="+mj-lt"/>
              </a:rPr>
              <a:t>Activity Logs awaiting Review</a:t>
            </a:r>
          </a:p>
          <a:p>
            <a:pPr lvl="1"/>
            <a:r>
              <a:rPr lang="en-US" dirty="0">
                <a:latin typeface="+mj-lt"/>
              </a:rPr>
              <a:t>Activity Logs in OPEN, UNDER REVIEW or NEEDS Clarification Status</a:t>
            </a:r>
          </a:p>
          <a:p>
            <a:pPr marL="32004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380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</a:rPr>
              <a:t>See if there will be IS Training at your DTrain (or another </a:t>
            </a:r>
            <a:r>
              <a:rPr lang="en-US" sz="3200">
                <a:latin typeface="+mj-lt"/>
              </a:rPr>
              <a:t>District DTrain </a:t>
            </a:r>
            <a:r>
              <a:rPr lang="en-US" sz="3200" dirty="0">
                <a:latin typeface="+mj-lt"/>
              </a:rPr>
              <a:t>or VTrain)</a:t>
            </a:r>
          </a:p>
          <a:p>
            <a:r>
              <a:rPr lang="en-US" sz="3200" dirty="0">
                <a:latin typeface="+mj-lt"/>
              </a:rPr>
              <a:t>Talk to your SO-IS about Training</a:t>
            </a:r>
          </a:p>
          <a:p>
            <a:r>
              <a:rPr lang="en-US" sz="3200" dirty="0">
                <a:latin typeface="+mj-lt"/>
              </a:rPr>
              <a:t>National Training:</a:t>
            </a:r>
          </a:p>
          <a:p>
            <a:pPr lvl="1"/>
            <a:r>
              <a:rPr lang="en-US" sz="3200" dirty="0">
                <a:latin typeface="+mj-lt"/>
              </a:rPr>
              <a:t>AUX-10 C-School (in person or Virtual)</a:t>
            </a:r>
          </a:p>
        </p:txBody>
      </p:sp>
    </p:spTree>
    <p:extLst>
      <p:ext uri="{BB962C8B-B14F-4D97-AF65-F5344CB8AC3E}">
        <p14:creationId xmlns:p14="http://schemas.microsoft.com/office/powerpoint/2010/main" val="249455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National “U” Directorate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j-lt"/>
              </a:rPr>
              <a:t>IS Officer Seminars </a:t>
            </a:r>
            <a:r>
              <a:rPr lang="en-US" sz="2000" i="1" dirty="0">
                <a:latin typeface="+mj-lt"/>
              </a:rPr>
              <a:t>(once a month)</a:t>
            </a:r>
            <a:r>
              <a:rPr lang="en-US" sz="3200" i="1" dirty="0">
                <a:latin typeface="+mj-lt"/>
              </a:rPr>
              <a:t>:</a:t>
            </a:r>
          </a:p>
          <a:p>
            <a:pPr lvl="1"/>
            <a:r>
              <a:rPr lang="en-US" sz="3000" b="1" dirty="0">
                <a:latin typeface="+mj-lt"/>
              </a:rPr>
              <a:t>60-90 minutes with a specific focus such as:</a:t>
            </a:r>
          </a:p>
          <a:p>
            <a:pPr lvl="2"/>
            <a:r>
              <a:rPr lang="en-US" sz="2600" b="1" dirty="0">
                <a:latin typeface="+mj-lt"/>
              </a:rPr>
              <a:t>Data QC</a:t>
            </a:r>
          </a:p>
          <a:p>
            <a:pPr lvl="2"/>
            <a:r>
              <a:rPr lang="en-US" sz="2600" b="1" dirty="0">
                <a:latin typeface="+mj-lt"/>
              </a:rPr>
              <a:t>Reports</a:t>
            </a:r>
          </a:p>
          <a:p>
            <a:pPr lvl="2"/>
            <a:r>
              <a:rPr lang="en-US" sz="2600" b="1" dirty="0">
                <a:latin typeface="+mj-lt"/>
              </a:rPr>
              <a:t>Patrols and Facility Inspections</a:t>
            </a:r>
          </a:p>
          <a:p>
            <a:pPr lvl="2"/>
            <a:r>
              <a:rPr lang="en-US" sz="2600" b="1" dirty="0">
                <a:latin typeface="+mj-lt"/>
              </a:rPr>
              <a:t>Etc.</a:t>
            </a:r>
          </a:p>
          <a:p>
            <a:pPr lvl="2"/>
            <a:endParaRPr lang="en-US" sz="2600" b="1" dirty="0">
              <a:latin typeface="+mj-lt"/>
            </a:endParaRPr>
          </a:p>
          <a:p>
            <a:pPr lvl="2"/>
            <a:r>
              <a:rPr lang="en-US" sz="2600" b="1" dirty="0">
                <a:latin typeface="+mj-lt"/>
              </a:rPr>
              <a:t>Don’t be shy about asking questions!!!!</a:t>
            </a:r>
          </a:p>
          <a:p>
            <a:pPr marL="320040" lvl="1" indent="0">
              <a:buNone/>
            </a:pPr>
            <a:endParaRPr lang="en-US" sz="3000" b="1" dirty="0">
              <a:latin typeface="+mj-lt"/>
            </a:endParaRPr>
          </a:p>
          <a:p>
            <a:pPr marL="0" indent="0">
              <a:buNone/>
            </a:pP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5775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QUESTIONS/ Follow-up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1509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1249</TotalTime>
  <Words>855</Words>
  <Application>Microsoft Office PowerPoint</Application>
  <PresentationFormat>On-screen Show (4:3)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Franklin Gothic Book</vt:lpstr>
      <vt:lpstr>Perpetua</vt:lpstr>
      <vt:lpstr>Wingdings 2</vt:lpstr>
      <vt:lpstr>Equity</vt:lpstr>
      <vt:lpstr>Welcome NEW IS Officers!</vt:lpstr>
      <vt:lpstr>AGENDA / Discussion</vt:lpstr>
      <vt:lpstr>The IS Challenge</vt:lpstr>
      <vt:lpstr>Role of the IS Officer</vt:lpstr>
      <vt:lpstr>Role of IS Officer (continued)</vt:lpstr>
      <vt:lpstr>IS Officer Job Descriptions</vt:lpstr>
      <vt:lpstr>IS Officer Resources</vt:lpstr>
      <vt:lpstr>U Directorate: https://wow.uscgaux.info/content.php?unit=u-dept </vt:lpstr>
      <vt:lpstr>Forms Warehouse</vt:lpstr>
      <vt:lpstr>How to Guides</vt:lpstr>
      <vt:lpstr>IS Officer Job Aids</vt:lpstr>
      <vt:lpstr>IS Officer Job Aids</vt:lpstr>
      <vt:lpstr>District Policies- Your District</vt:lpstr>
      <vt:lpstr>Serving Your Members and Leadership</vt:lpstr>
      <vt:lpstr>Good Reports to Share</vt:lpstr>
      <vt:lpstr>Location of Key Reports in Quick Stop</vt:lpstr>
      <vt:lpstr>Manage your Activity Log Review</vt:lpstr>
      <vt:lpstr>Training Opportunities</vt:lpstr>
      <vt:lpstr>National “U” Directorate Resources</vt:lpstr>
      <vt:lpstr>QUESTIONS/ Follow-up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D1NR IS Meeting</dc:title>
  <dc:creator>John</dc:creator>
  <cp:lastModifiedBy>Laurel Carlson</cp:lastModifiedBy>
  <cp:revision>102</cp:revision>
  <cp:lastPrinted>2022-12-10T13:23:07Z</cp:lastPrinted>
  <dcterms:created xsi:type="dcterms:W3CDTF">2022-02-08T21:11:13Z</dcterms:created>
  <dcterms:modified xsi:type="dcterms:W3CDTF">2026-01-06T00:04:35Z</dcterms:modified>
</cp:coreProperties>
</file>